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13"/>
  </p:notesMasterIdLst>
  <p:sldIdLst>
    <p:sldId id="537" r:id="rId3"/>
    <p:sldId id="549" r:id="rId4"/>
    <p:sldId id="559" r:id="rId5"/>
    <p:sldId id="548" r:id="rId6"/>
    <p:sldId id="552" r:id="rId7"/>
    <p:sldId id="551" r:id="rId8"/>
    <p:sldId id="557" r:id="rId9"/>
    <p:sldId id="558" r:id="rId10"/>
    <p:sldId id="540" r:id="rId11"/>
    <p:sldId id="560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4AE11C2-73EC-431A-B132-F19D4A7E2F28}">
          <p14:sldIdLst>
            <p14:sldId id="537"/>
            <p14:sldId id="549"/>
            <p14:sldId id="559"/>
            <p14:sldId id="548"/>
            <p14:sldId id="552"/>
            <p14:sldId id="551"/>
            <p14:sldId id="557"/>
            <p14:sldId id="558"/>
            <p14:sldId id="540"/>
            <p14:sldId id="5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1C8EE4"/>
    <a:srgbClr val="000002"/>
    <a:srgbClr val="0099FF"/>
    <a:srgbClr val="99CCFF"/>
    <a:srgbClr val="E71F3C"/>
    <a:srgbClr val="575757"/>
    <a:srgbClr val="F5A5B1"/>
    <a:srgbClr val="3366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3" autoAdjust="0"/>
    <p:restoredTop sz="94424" autoAdjust="0"/>
  </p:normalViewPr>
  <p:slideViewPr>
    <p:cSldViewPr snapToGrid="0" showGuides="1">
      <p:cViewPr varScale="1">
        <p:scale>
          <a:sx n="87" d="100"/>
          <a:sy n="87" d="100"/>
        </p:scale>
        <p:origin x="-346" y="-82"/>
      </p:cViewPr>
      <p:guideLst>
        <p:guide orient="horz" pos="2166"/>
        <p:guide pos="3795"/>
      </p:guideLst>
    </p:cSldViewPr>
  </p:slideViewPr>
  <p:outlineViewPr>
    <p:cViewPr>
      <p:scale>
        <a:sx n="33" d="100"/>
        <a:sy n="33" d="100"/>
      </p:scale>
      <p:origin x="0" y="-54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8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71DD0-BD42-4D9F-B855-31D54673E3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C1487-CE5C-4C48-82D9-C85A16AACE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19EC39E-9D0D-43A1-83CE-E37013F572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45469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445469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445469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84FD02-6AD0-48A1-83C9-886E50CA955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45469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445469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1. A-MEM</a:t>
            </a:r>
            <a:endParaRPr lang="en-US" altLang="zh-CN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65" y="1098550"/>
            <a:ext cx="9215755" cy="43561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677400" y="2013585"/>
            <a:ext cx="2011680" cy="314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Zettelkasten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卡片盒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489440" y="2550160"/>
            <a:ext cx="24447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记忆被视为自主单元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，通过不断构建记忆单元，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新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经验不断演进，相关记忆之间会自动形成新链接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使其能持续优化记忆结构。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2. Mem0</a:t>
            </a:r>
            <a:endParaRPr lang="en-US" altLang="zh-CN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" y="1016635"/>
            <a:ext cx="9082405" cy="37636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425940" y="876300"/>
            <a:ext cx="2665095" cy="977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渐进式记忆提取与更新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提取阶段：上下文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最新消息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候选记忆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更新阶段：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判断操作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9755" y="500634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每当收到一组新的消息，系统结合全局对话摘要和最近若干条消息作为上下文，让LLM从中提取出新的、值得记忆的“事实”。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47030" y="5006340"/>
            <a:ext cx="38487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从记忆库中检索语义最相似的已有记忆。将候选事实和相似记忆交给LLM，由LLM自主判断应采取的操作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2. Mem0g</a:t>
            </a:r>
            <a:endParaRPr lang="en-US" altLang="zh-CN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1183005"/>
            <a:ext cx="10590530" cy="31737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7500" y="4551680"/>
            <a:ext cx="406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Mem0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的基础上，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Mem0g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引入了传统知识图谱的思想来增强其对复杂关系的处理能力。与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Mem0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主要通过文本和摘要来管理记忆不同，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Mem0g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通过三元组方式将记忆存储为头节点、尾节点和关系边的图。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12690" y="4501515"/>
            <a:ext cx="556895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实体提取模块：从对话中识别出所有相关的实体及实体类别。</a:t>
            </a:r>
            <a:endParaRPr lang="en-US" altLang="zh-CN" sz="1600" b="0" i="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2690" y="4812030"/>
            <a:ext cx="5569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关系生成模块：根据对话上下文建立实体之间的关系，形成一组三元组。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12690" y="5341620"/>
            <a:ext cx="5568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Mem0g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会计算新提取的实体与现有节点之间的语义相似度，并根据阈值决定是否更新或添加新的节点和关系。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3. M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emGPT</a:t>
            </a:r>
            <a:endParaRPr lang="en-US" altLang="zh-CN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935" y="1039495"/>
            <a:ext cx="9317990" cy="35299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3570" y="4801235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主上下文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(Main Context)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：相当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“RAM”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。由三部分组成：系统指令、工作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上下文（存储关键用户信息）、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FIFO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队列（滚动的对话历史）。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36185" y="4801235"/>
            <a:ext cx="406971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外部上下文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(External Context)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：相当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硬盘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。包括召回存储（完整的对话历史数据库）和归档存储（任意长度的文档、知识库）。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73615" y="1507490"/>
            <a:ext cx="2097405" cy="2593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智能中断机制：在传统的计算机系统中，中断是一种机制，允许硬件或软件暂停当前执行的任务，以便处理更紧迫或更重要的事情。借鉴这一概念，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MemGPT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在用户与模型的交互中引入了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智能中断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4. M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emoryBank</a:t>
            </a:r>
            <a:endParaRPr lang="en-US" altLang="zh-CN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1061085"/>
            <a:ext cx="9827260" cy="38106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3745" y="4937760"/>
            <a:ext cx="406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基于艾宾浩斯遗忘曲线理论：记忆强度随时间衰减，但可通过复习（被提及）增强。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MemoryBank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将这种机制引入到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</a:rPr>
              <a:t>中，让它在合适的时候忘掉不重要的记忆，保留和强化真正重要的信息。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73875" y="4937760"/>
            <a:ext cx="30962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MemoryBank 的 AI 伴侣：使用 38k 条心理对话数据进行 LoRA 微调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，让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SiliconFriend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为用户提供有用的、富有同情心的情感支持。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solidFill>
                <a:srgbClr val="445469"/>
              </a:solidFill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solidFill>
                <a:srgbClr val="445469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5. Z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ep</a:t>
            </a:r>
            <a:endParaRPr lang="en-US" altLang="zh-CN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3" name="图片 12" descr="MemGP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15" y="1070610"/>
            <a:ext cx="7074535" cy="47167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08570" y="100330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三层图谱结构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事件子图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：存储原始的对话消息、文本等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节点。这是非损的原始数据层。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语义实体子图：从事件中提取实体作为节点，提取事实（关系）作为带属性的边。这是结构化的记忆层。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社区子图：通过社区发现算法，将紧密相关的实体聚类为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节点，并生成社区摘要，提供宏观主题视图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08570" y="331025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记忆检索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搜索：根据输入文本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，识别出可能包含相关信息的候选节点和边。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重排：对上一步的搜索结果重新排序。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构造器：将相关的节点和边转换为文本形式的上下文。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08570" y="487870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在搜索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过程中，除了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常用的余弦相似度搜索和全文搜索，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Zep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还加入了广度优先搜索。全文搜索识别词语相似性，余弦搜索捕获语义相似性，而广度优先搜索揭示了上下文相似性，从而最大程度地从图谱中挖掘最佳语境。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6. M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emOS</a:t>
            </a:r>
            <a:endParaRPr lang="en-US" altLang="zh-CN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70" y="1038860"/>
            <a:ext cx="8969375" cy="43338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407525" y="978535"/>
            <a:ext cx="26384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三层系统架构：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接口层：将自然语言请求解析为对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MemCube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的标准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操作层：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MemOS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的大脑中枢，负责记忆的组织、规划和调度。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基础设施层：负责记忆数据的存储、安全、迁移和流动。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2595" y="5535295"/>
            <a:ext cx="52952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参数记忆：即编码在模型固定权重中的知识和能力。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激活记忆：推理时的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缓存、注意力模式等。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明文记忆：外部检索的文本、图谱等，即传统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39790" y="5535295"/>
            <a:ext cx="46043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核心抽象：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MemCube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将所有记忆标准化为统一的调度单元。无论记忆是文本、向量还是权重，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MemOS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都可以通过操作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MemCube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的元数据来对其进行统一的调度、管理和治理。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6. M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emOS</a:t>
            </a:r>
            <a:endParaRPr lang="en-US" altLang="zh-CN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" y="1032510"/>
            <a:ext cx="8466455" cy="36480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10270" y="1032510"/>
            <a:ext cx="350456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三态转换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明文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激活记忆：把常用笔记贴在眼前。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MemOS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会将这段纯文本内容预处理并转化为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KV-cache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形式的激活记忆，并将其缓存到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内存中。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明文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激活记忆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参数记忆：把熟练技能刻入本能。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MemOS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可以将其固化或内化到模型的参数中。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参数记忆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明文记忆：把不常用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过时技能写成手册。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MemOS 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可以将其从参数中卸载或逆转为纯文本形式，并归档到外部存储（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MemVault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7. MIRIX</a:t>
            </a:r>
            <a:endParaRPr lang="en-US" altLang="zh-CN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75" y="1089660"/>
            <a:ext cx="10052050" cy="23768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65225" y="3679825"/>
            <a:ext cx="406400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核心记忆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(Core Memory)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：存储最高优先级、持久的身份信息，类似于系统常驻进程。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情景记忆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(Episodic Memory)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：按时间戳记录具体事件，像一本结构化的日记或日历。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语义记忆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(Semantic Memory)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：存储抽象的概念、实体和关系，是一个独立于时间的知识库。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90260" y="3679825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程序记忆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(Procedural Memory)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：保存可执行的步骤和流程，是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技能手册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资源记忆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(Resource Memory)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：存储用户分享的完整文档、文件等原始材料，是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参考资料库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(Knowledge Vault)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：安全存储密码、地址等敏感、逐字信息，是加锁的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保险箱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7. MIRIX</a:t>
            </a:r>
            <a:endParaRPr lang="en-US" altLang="zh-CN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1079500"/>
            <a:ext cx="7726045" cy="43700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31175" y="1139825"/>
            <a:ext cx="384556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元记忆管理器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(Meta Memory Manager)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：作为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中央路由器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，分析用户输入，决定将信息分派给哪个或哪几个记忆管理器，并协调它们的更新流程。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六个记忆管理器：每个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记忆组件对应一个专属管理器，负责其内部数据的更新、组织和检索。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聊天智能体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(Chat Agent)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：面向用户的交互界面。它使用主动检索机制：在回答问题前，先自动生成一个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话题</a:t>
            </a:r>
            <a:r>
              <a:rPr lang="en-US" altLang="zh-CN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dirty="0" smtClean="0">
                <a:solidFill>
                  <a:srgbClr val="0000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，并用此话题并行查询所有六个记忆组件，将结果注入上下文。</a:t>
            </a:r>
            <a:endParaRPr lang="zh-CN" altLang="en-US" sz="1600" dirty="0" smtClean="0">
              <a:solidFill>
                <a:srgbClr val="0000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RESOURCE_PATHS_HASH_PRESENTER" val="5d5baa9f4352cf043e6ddefa225d98f12ab7d"/>
  <p:tag name="commondata" val="eyJoZGlkIjoiNDcxMDM5YjkzZDYyNmE1Mjc5MDY1ZTdlNWQxNTY1NWMifQ=="/>
</p:tagLst>
</file>

<file path=ppt/theme/theme1.xml><?xml version="1.0" encoding="utf-8"?>
<a:theme xmlns:a="http://schemas.openxmlformats.org/drawingml/2006/main" name="1_Office 主题">
  <a:themeElements>
    <a:clrScheme name="向天歌PPT">
      <a:dk1>
        <a:srgbClr val="445469"/>
      </a:dk1>
      <a:lt1>
        <a:sysClr val="window" lastClr="FFFFFF"/>
      </a:lt1>
      <a:dk2>
        <a:srgbClr val="445469"/>
      </a:dk2>
      <a:lt2>
        <a:srgbClr val="FFFFFF"/>
      </a:lt2>
      <a:accent1>
        <a:srgbClr val="E71F3C"/>
      </a:accent1>
      <a:accent2>
        <a:srgbClr val="FCC725"/>
      </a:accent2>
      <a:accent3>
        <a:srgbClr val="1C8EE4"/>
      </a:accent3>
      <a:accent4>
        <a:srgbClr val="73446C"/>
      </a:accent4>
      <a:accent5>
        <a:srgbClr val="A5CA36"/>
      </a:accent5>
      <a:accent6>
        <a:srgbClr val="C1C7D0"/>
      </a:accent6>
      <a:hlink>
        <a:srgbClr val="F33B48"/>
      </a:hlink>
      <a:folHlink>
        <a:srgbClr val="FFC00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alpha val="83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2400" dirty="0" smtClean="0">
            <a:solidFill>
              <a:srgbClr val="000002"/>
            </a:solidFill>
            <a:latin typeface="宋体" panose="02010600030101010101" pitchFamily="2" charset="-122"/>
            <a:ea typeface="宋体" panose="02010600030101010101" pitchFamily="2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2180</Words>
  <Application>WPS 演示</Application>
  <PresentationFormat>自定义</PresentationFormat>
  <Paragraphs>92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Arial Unicode MS</vt:lpstr>
      <vt:lpstr>等线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向天歌演示</dc:creator>
  <cp:keywords>www.51pptmoban.com</cp:keywords>
  <cp:lastModifiedBy>远方</cp:lastModifiedBy>
  <cp:revision>2840</cp:revision>
  <dcterms:created xsi:type="dcterms:W3CDTF">2015-07-10T05:07:00Z</dcterms:created>
  <dcterms:modified xsi:type="dcterms:W3CDTF">2025-12-04T05:09:51Z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238E8553ED3A455398F4C10BA62D9115_12</vt:lpwstr>
  </property>
  <property fmtid="{D5CDD505-2E9C-101B-9397-08002B2CF9AE}" pid="3" name="KSOProductBuildVer">
    <vt:lpwstr>2052-12.1.0.24034</vt:lpwstr>
  </property>
</Properties>
</file>